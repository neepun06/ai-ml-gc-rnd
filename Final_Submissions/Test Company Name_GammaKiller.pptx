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QuantumForge</a:t>
            </a:r>
            <a:r>
              <a:rPr sz="24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Defense &amp; Space Electronics | Investment Teaser</a:t>
            </a:r>
            <a:r>
              <a:rPr sz="1200" b="0">
                <a:solidFill>
                  <a:srgbClr val="C8C8FF"/>
                </a:solidFill>
                <a:latin typeface="Arial"/>
              </a:rPr>
              <a:t/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82880"/>
            <a:ext cx="1444752" cy="548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2600" y="1397000"/>
            <a:ext cx="5029200" cy="32004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0292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F6450"/>
                </a:solidFill>
                <a:latin typeface="Arial"/>
              </a:rPr>
              <a:t>BUSINESS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100" b="0">
                <a:solidFill>
                  <a:srgbClr val="32323C"/>
                </a:solidFill>
                <a:latin typeface="Arial"/>
              </a:rPr>
              <a:t>• Tier-1 Strategic Partner to ISRO, DRDO, and Global Defense Primes (Thales, Rafael).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32323C"/>
                </a:solidFill>
                <a:latin typeface="Arial"/>
              </a:rPr>
              <a:t>• 3 State-of-the-art Manufacturing Units (AS9100D Certified) in Bangalore &amp; Hyderabad.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32323C"/>
                </a:solidFill>
                <a:latin typeface="Arial"/>
              </a:rPr>
              <a:t>• Diversified Revenue Mix: 45% Exports (USA/EU) | 55% Domestic Strategic Projects.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486400" cy="320040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80050"/>
                </a:solidFill>
                <a:latin typeface="Arial"/>
              </a:rPr>
              <a:t>KEY PORTFOLIO MIX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" y="5237480"/>
            <a:ext cx="2560320" cy="109728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2560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80050"/>
                </a:solidFill>
                <a:latin typeface="Arial"/>
              </a:rPr>
              <a:t>Missile Control Electronics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25800" y="5237480"/>
            <a:ext cx="2560320" cy="109728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5212080"/>
            <a:ext cx="2560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5303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80050"/>
                </a:solidFill>
                <a:latin typeface="Arial"/>
              </a:rPr>
              <a:t>Satellite Payloads (Space-Grade)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69000" y="5237480"/>
            <a:ext cx="2560320" cy="109728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0" y="5212080"/>
            <a:ext cx="2560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5303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80050"/>
                </a:solidFill>
                <a:latin typeface="Arial"/>
              </a:rPr>
              <a:t>Radar &amp; EW Systems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12200" y="5237480"/>
            <a:ext cx="2560320" cy="109728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0" y="5212080"/>
            <a:ext cx="2560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53035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80050"/>
                </a:solidFill>
                <a:latin typeface="Arial"/>
              </a:rPr>
              <a:t>Aero-Structure Assemblies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69696"/>
                </a:solidFill>
                <a:latin typeface="Arial"/>
              </a:rPr>
              <a:t>Strictly Private &amp; Confidential – Prepared by Kelp M&amp;A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