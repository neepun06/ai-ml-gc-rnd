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23</c:v>
                </c:pt>
                <c:pt idx="1">
                  <c:v>24</c:v>
                </c:pt>
                <c:pt idx="2">
                  <c:v>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9229.69</c:v>
                </c:pt>
                <c:pt idx="1">
                  <c:v>10908.2</c:v>
                </c:pt>
                <c:pt idx="2">
                  <c:v>11554.17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Project Centum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8C8FF"/>
                </a:solidFill>
                <a:latin typeface="Arial"/>
              </a:rPr>
              <a:t>Leading Indian Electronics Company for High-Technology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27432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20040"/>
            <a:ext cx="1444752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E"/>
                </a:solidFill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00" y="1409700"/>
            <a:ext cx="5486400" cy="32004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486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4200" y="1473200"/>
            <a:ext cx="523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0050"/>
                </a:solidFill>
                <a:latin typeface="Arial"/>
              </a:rPr>
              <a:t>BUSINESS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100" b="1">
                <a:solidFill>
                  <a:srgbClr val="2D2D37"/>
                </a:solidFill>
                <a:latin typeface="Arial"/>
              </a:rPr>
              <a:t>Centum Electronics is an Indian diversified electronics company specializing in high-technology solutions for defense, aerospace, and space sectors. It offers customized product design, manufacturing services, and turnkey solutions globally.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D2D37"/>
                </a:solidFill>
                <a:latin typeface="Arial"/>
              </a:rPr>
              <a:t>• Proven track record in mission-critical electronics and passenger information systems.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D2D37"/>
                </a:solidFill>
                <a:latin typeface="Arial"/>
              </a:rPr>
              <a:t>• Global operations across North America, Europe, and Asia with a diverse customer 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300" y="4792980"/>
            <a:ext cx="1828800" cy="16459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1828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183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6450"/>
                </a:solidFill>
                <a:latin typeface="Arial"/>
              </a:rPr>
              <a:t>350,000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89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80050"/>
                </a:solidFill>
                <a:latin typeface="Arial"/>
              </a:rPr>
              <a:t>SQ. 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43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4646E"/>
                </a:solidFill>
                <a:latin typeface="Arial"/>
              </a:rPr>
              <a:t>Production Area (Bangalore)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15540" y="4792980"/>
            <a:ext cx="1828800" cy="16459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77440" y="4754880"/>
            <a:ext cx="1828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48183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6450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389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80050"/>
                </a:solidFill>
                <a:latin typeface="Arial"/>
              </a:rPr>
              <a:t>MANUFACTURING FACILITIES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643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4646E"/>
                </a:solidFill>
                <a:latin typeface="Arial"/>
              </a:rPr>
              <a:t>India &amp; France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5780" y="4792980"/>
            <a:ext cx="1828800" cy="16459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80" y="4754880"/>
            <a:ext cx="1828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8183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6450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389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80050"/>
                </a:solidFill>
                <a:latin typeface="Arial"/>
              </a:rPr>
              <a:t>CONTINENTS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643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4646E"/>
                </a:solidFill>
                <a:latin typeface="Arial"/>
              </a:rPr>
              <a:t>North America, Europe, Asia 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6020" y="1409700"/>
            <a:ext cx="5486400" cy="50292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4920" y="1473200"/>
            <a:ext cx="523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0050"/>
                </a:solidFill>
                <a:latin typeface="Arial"/>
              </a:rPr>
              <a:t>KEY PORTFOLIO &amp; CAPABILITIES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8288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0050"/>
                </a:solidFill>
                <a:latin typeface="Arial"/>
              </a:rPr>
              <a:t>STRATEGIC ELECTRONICS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0193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0505A"/>
                </a:solidFill>
                <a:latin typeface="Arial"/>
              </a:rPr>
              <a:t>Customized for Defense &amp; 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65176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0050"/>
                </a:solidFill>
                <a:latin typeface="Arial"/>
              </a:rPr>
              <a:t>PASSENGER INFO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8422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0505A"/>
                </a:solidFill>
                <a:latin typeface="Arial"/>
              </a:rPr>
              <a:t>Real-time for Rail Transport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4747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0050"/>
                </a:solidFill>
                <a:latin typeface="Arial"/>
              </a:rPr>
              <a:t>EMS SOLUTIONS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6652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0505A"/>
                </a:solidFill>
                <a:latin typeface="Arial"/>
              </a:rPr>
              <a:t>PCBA, System Integration, Test 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976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0050"/>
                </a:solidFill>
                <a:latin typeface="Arial"/>
              </a:rPr>
              <a:t>ENGINEERING SERVICES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881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0505A"/>
                </a:solidFill>
                <a:latin typeface="Arial"/>
              </a:rPr>
              <a:t>Design, Embedded Software, Mechanical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Financial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8C8FF"/>
                </a:solidFill>
                <a:latin typeface="Arial"/>
              </a:rPr>
              <a:t>Growth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27432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20040"/>
            <a:ext cx="1444752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E"/>
                </a:solidFill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00" y="1409700"/>
            <a:ext cx="3657600" cy="13716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3510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6450"/>
                </a:solidFill>
                <a:latin typeface="Arial"/>
              </a:rPr>
              <a:t>11.9%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06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80050"/>
                </a:solidFill>
                <a:latin typeface="Arial"/>
              </a:rPr>
              <a:t>REVENUE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6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4646E"/>
                </a:solidFill>
                <a:latin typeface="Arial"/>
              </a:rPr>
              <a:t>FY20-24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5780" y="1409700"/>
            <a:ext cx="3657600" cy="13716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43510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6450"/>
                </a:solidFill>
                <a:latin typeface="Arial"/>
              </a:rPr>
              <a:t>7.9%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006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80050"/>
                </a:solidFill>
                <a:latin typeface="Arial"/>
              </a:rPr>
              <a:t>EBITDA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26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4646E"/>
                </a:solidFill>
                <a:latin typeface="Arial"/>
              </a:rPr>
              <a:t>Sustainable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6260" y="1409700"/>
            <a:ext cx="3657600" cy="13716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657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43510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6450"/>
                </a:solidFill>
                <a:latin typeface="Arial"/>
              </a:rPr>
              <a:t>11,554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006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80050"/>
                </a:solidFill>
                <a:latin typeface="Arial"/>
              </a:rPr>
              <a:t>FY25E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260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4646E"/>
                </a:solidFill>
                <a:latin typeface="Arial"/>
              </a:rPr>
              <a:t>Projected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5300" y="3055620"/>
            <a:ext cx="7315200" cy="33832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017520"/>
            <a:ext cx="73152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4200" y="3119120"/>
            <a:ext cx="706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0050"/>
                </a:solidFill>
                <a:latin typeface="Arial"/>
              </a:rPr>
              <a:t>REVENUE GROWTH (INR CR)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40080" y="3474720"/>
          <a:ext cx="68580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084820" y="3055620"/>
            <a:ext cx="3657600" cy="33832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3017520"/>
            <a:ext cx="3657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3720" y="3119120"/>
            <a:ext cx="340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0050"/>
                </a:solidFill>
                <a:latin typeface="Arial"/>
              </a:rPr>
              <a:t>OPERATIONAL KPIS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747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0050"/>
                </a:solidFill>
                <a:latin typeface="Arial"/>
              </a:rPr>
              <a:t>₹1,303 Cr : Order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6652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646E"/>
                </a:solidFill>
                <a:latin typeface="Arial"/>
              </a:rPr>
              <a:t>As of Sep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2062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0050"/>
                </a:solidFill>
                <a:latin typeface="Arial"/>
              </a:rPr>
              <a:t>350,000 : Sq. Ft.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3967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646E"/>
                </a:solidFill>
                <a:latin typeface="Arial"/>
              </a:rPr>
              <a:t>Production Area (Bangalore)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9377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0050"/>
                </a:solidFill>
                <a:latin typeface="Arial"/>
              </a:rPr>
              <a:t>2,368 : Employees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1282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646E"/>
                </a:solidFill>
                <a:latin typeface="Arial"/>
              </a:rPr>
              <a:t>Global Workforce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6692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80050"/>
                </a:solidFill>
                <a:latin typeface="Arial"/>
              </a:rPr>
              <a:t>AS9100 : Certified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8597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646E"/>
                </a:solidFill>
                <a:latin typeface="Arial"/>
              </a:rPr>
              <a:t>Aerospace Quality Standard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Investment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8C8FF"/>
                </a:solidFill>
                <a:latin typeface="Arial"/>
              </a:rPr>
              <a:t>Why Invest?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27432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20040"/>
            <a:ext cx="1444752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537960"/>
            <a:ext cx="1216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E"/>
                </a:solidFill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2500" y="1501140"/>
            <a:ext cx="10332720" cy="128016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463040"/>
            <a:ext cx="103327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FF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5900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80050"/>
                </a:solidFill>
                <a:latin typeface="Arial"/>
              </a:rPr>
              <a:t>ROBUST ORDER BOOK &amp; REVENUE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9075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37"/>
                </a:solidFill>
                <a:latin typeface="Arial"/>
              </a:rPr>
              <a:t>Centum Electronics maintains a substantial order book of ₹1,303 crore as of September 30, 2024, ensuring strong revenue visibility for the medium term, particularly in high-margin segments.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500" y="3055620"/>
            <a:ext cx="10332720" cy="128016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017520"/>
            <a:ext cx="103327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FF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144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80050"/>
                </a:solidFill>
                <a:latin typeface="Arial"/>
              </a:rPr>
              <a:t>CAPITALIZING ON HIGH-GROWTH SECTORS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620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37"/>
                </a:solidFill>
                <a:latin typeface="Arial"/>
              </a:rPr>
              <a:t>The company is well-positioned to leverage increasing demand for high-end electronic systems across defense, aerospace, and industrial applications, diversifying its product offerings.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500" y="4610100"/>
            <a:ext cx="10332720" cy="128016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572000"/>
            <a:ext cx="103327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FF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6990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80050"/>
                </a:solidFill>
                <a:latin typeface="Arial"/>
              </a:rPr>
              <a:t>STRATEGIC EXPANSION &amp; R&amp;D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165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37"/>
                </a:solidFill>
                <a:latin typeface="Arial"/>
              </a:rPr>
              <a:t>Centum is actively pursuing M&amp;A opportunities and expanding its engineering R&amp;D capabilities, targeting significant growth in India's ER&amp;D export market by 2030.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