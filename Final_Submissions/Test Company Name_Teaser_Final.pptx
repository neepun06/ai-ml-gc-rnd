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/>
            </a:pPr>
            <a:r>
              <a:t>Growth Trajectory (INR Cr)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FY23</c:v>
                </c:pt>
                <c:pt idx="1">
                  <c:v>FY24</c:v>
                </c:pt>
                <c:pt idx="2">
                  <c:v>FY25 (E)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980.0</c:v>
                </c:pt>
                <c:pt idx="1">
                  <c:v>1150.0</c:v>
                </c:pt>
                <c:pt idx="2">
                  <c:v>1380.0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8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Project QuantumForge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C8C8FF"/>
                </a:solidFill>
                <a:latin typeface="Arial"/>
              </a:rPr>
              <a:t>Defense &amp; Space Electronics | Investment Teaser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15600" y="228600"/>
            <a:ext cx="13716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274320"/>
            <a:ext cx="1444752" cy="548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0" y="6537960"/>
            <a:ext cx="1216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646E"/>
                </a:solidFill>
              </a:defRPr>
            </a:pPr>
            <a:r>
              <a:t>Strictly Private &amp; Confidential – Prepared by Kelp M&amp;A Team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5300" y="1409700"/>
            <a:ext cx="11247120" cy="1828800"/>
          </a:xfrm>
          <a:prstGeom prst="round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371600"/>
            <a:ext cx="112471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4630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BUSINESS PROFILE</a:t>
            </a:r>
            <a:r>
              <a:rPr sz="1100" b="1">
                <a:solidFill>
                  <a:srgbClr val="280050"/>
                </a:solidFill>
                <a:latin typeface="Arial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8288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</a:pPr>
            <a:r>
              <a:rPr sz="1100">
                <a:solidFill>
                  <a:srgbClr val="2D2D37"/>
                </a:solidFill>
                <a:latin typeface="Arial"/>
              </a:rPr>
              <a:t>• Tier-1 Strategic Partner to ISRO, DRDO, and Global Defense Primes (Thales, Rafael).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2D2D37"/>
                </a:solidFill>
                <a:latin typeface="Arial"/>
              </a:rPr>
              <a:t>• 3 State-of-the-art Manufacturing Units (AS9100D Certified) in Bangalore &amp; Hyderabad.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2D2D37"/>
                </a:solidFill>
                <a:latin typeface="Arial"/>
              </a:rPr>
              <a:t>• Diversified Revenue Mix: 45% Exports (USA/EU) | 55% Domestic Strategic Projects.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004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KEY PORTFOLIO &amp; CAPABILITIES</a:t>
            </a:r>
            <a:r>
              <a:rPr sz="1100" b="1">
                <a:solidFill>
                  <a:srgbClr val="280050"/>
                </a:solidFill>
                <a:latin typeface="Arial"/>
              </a:rPr>
              <a:t/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5300" y="3512820"/>
            <a:ext cx="3566160" cy="1371600"/>
          </a:xfrm>
          <a:prstGeom prst="round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7200" y="3474720"/>
            <a:ext cx="35661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C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4200" y="3601720"/>
            <a:ext cx="3312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80050"/>
                </a:solidFill>
              </a:defRPr>
            </a:pPr>
            <a:r>
              <a:t>MISSILE CONTROL ELECTRONICS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4200" y="3919220"/>
            <a:ext cx="3312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2D2D37"/>
                </a:solidFill>
                <a:latin typeface="Arial"/>
              </a:rPr>
              <a:t/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44340" y="3512820"/>
            <a:ext cx="3566160" cy="1371600"/>
          </a:xfrm>
          <a:prstGeom prst="round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206240" y="3474720"/>
            <a:ext cx="35661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C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33240" y="3601720"/>
            <a:ext cx="3312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80050"/>
                </a:solidFill>
              </a:defRPr>
            </a:pPr>
            <a:r>
              <a:t>SATELLITE PAYLOADS (SPACE-GRADE)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33240" y="3919220"/>
            <a:ext cx="3312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2D2D37"/>
                </a:solidFill>
                <a:latin typeface="Arial"/>
              </a:rPr>
              <a:t/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93380" y="3512820"/>
            <a:ext cx="3566160" cy="1371600"/>
          </a:xfrm>
          <a:prstGeom prst="round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955280" y="3474720"/>
            <a:ext cx="35661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C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82280" y="3601720"/>
            <a:ext cx="3312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80050"/>
                </a:solidFill>
              </a:defRPr>
            </a:pPr>
            <a:r>
              <a:t>RADAR &amp; EW SYSTEMS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82280" y="3919220"/>
            <a:ext cx="3312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2D2D37"/>
                </a:solidFill>
                <a:latin typeface="Arial"/>
              </a:rPr>
              <a:t/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95300" y="5067300"/>
            <a:ext cx="3566160" cy="1371600"/>
          </a:xfrm>
          <a:prstGeom prst="round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57200" y="5029200"/>
            <a:ext cx="35661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C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4200" y="5156200"/>
            <a:ext cx="3312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80050"/>
                </a:solidFill>
              </a:defRPr>
            </a:pPr>
            <a:r>
              <a:t>AERO-STRUCTURE ASSEMBLIES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4200" y="5473700"/>
            <a:ext cx="3312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2D2D37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8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Financial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C8C8FF"/>
                </a:solidFill>
                <a:latin typeface="Arial"/>
              </a:rPr>
              <a:t>Operational Scale | Investment Teaser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15600" y="228600"/>
            <a:ext cx="13716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274320"/>
            <a:ext cx="1444752" cy="548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0" y="6537960"/>
            <a:ext cx="1216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646E"/>
                </a:solidFill>
              </a:defRPr>
            </a:pPr>
            <a:r>
              <a:t>Strictly Private &amp; Confidential – Prepared by Kelp M&amp;A Team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5300" y="1501140"/>
            <a:ext cx="3200400" cy="1645920"/>
          </a:xfrm>
          <a:prstGeom prst="round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463040"/>
            <a:ext cx="32004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C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6535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REVENUE CAGR</a:t>
            </a:r>
            <a:r>
              <a:rPr sz="1100" b="1">
                <a:solidFill>
                  <a:srgbClr val="280050"/>
                </a:solidFill>
                <a:latin typeface="Arial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09804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18.5%</a:t>
            </a:r>
            <a:r>
              <a:rPr sz="3200" b="1">
                <a:solidFill>
                  <a:srgbClr val="FF6450"/>
                </a:solidFill>
                <a:latin typeface="Arial"/>
              </a:rPr>
              <a:t/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5300" y="3329940"/>
            <a:ext cx="3200400" cy="1645920"/>
          </a:xfrm>
          <a:prstGeom prst="round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" y="3291840"/>
            <a:ext cx="32004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C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4823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EBITDA MARGIN</a:t>
            </a:r>
            <a:r>
              <a:rPr sz="1100" b="1">
                <a:solidFill>
                  <a:srgbClr val="280050"/>
                </a:solidFill>
                <a:latin typeface="Arial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92684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22.0%</a:t>
            </a:r>
            <a:r>
              <a:rPr sz="3200" b="1">
                <a:solidFill>
                  <a:srgbClr val="FF6450"/>
                </a:solidFill>
                <a:latin typeface="Arial"/>
              </a:rPr>
              <a:t/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5300" y="5158740"/>
            <a:ext cx="3200400" cy="2286000"/>
          </a:xfrm>
          <a:prstGeom prst="round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7200" y="5120640"/>
            <a:ext cx="32004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C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24764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OPERATIONAL HIGHLIGHTS</a:t>
            </a:r>
            <a:r>
              <a:rPr sz="1100" b="1">
                <a:solidFill>
                  <a:srgbClr val="280050"/>
                </a:solidFill>
                <a:latin typeface="Arial"/>
              </a:rPr>
              <a:t/>
            </a:r>
          </a:p>
          <a:p>
            <a:pPr>
              <a:spcAft>
                <a:spcPts val="600"/>
              </a:spcAft>
              <a:defRPr sz="900"/>
            </a:pPr>
            <a:r>
              <a:t>• Order Book: ₹1,500 Cr (2.5x Revenue Visibility)</a:t>
            </a:r>
          </a:p>
          <a:p>
            <a:pPr>
              <a:spcAft>
                <a:spcPts val="600"/>
              </a:spcAft>
              <a:defRPr sz="900"/>
            </a:pPr>
            <a:r>
              <a:t>• Return on Capital (RoCE): 24%</a:t>
            </a:r>
          </a:p>
          <a:p>
            <a:pPr>
              <a:spcAft>
                <a:spcPts val="600"/>
              </a:spcAft>
              <a:defRPr sz="900"/>
            </a:pPr>
            <a:r>
              <a:t>• Net Debt / EBITDA: &lt; 0.5x (Zero Debt)</a:t>
            </a:r>
          </a:p>
          <a:p>
            <a:pPr>
              <a:spcAft>
                <a:spcPts val="600"/>
              </a:spcAft>
              <a:defRPr sz="900"/>
            </a:pPr>
            <a:r>
              <a:t>• Workforce: 600+ Engineers &amp; Scientists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70020" y="1501140"/>
            <a:ext cx="7772400" cy="4572000"/>
          </a:xfrm>
          <a:prstGeom prst="round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931920" y="1463040"/>
            <a:ext cx="77724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C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4389120" y="1828800"/>
          <a:ext cx="6858000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8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Investment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C8C8FF"/>
                </a:solidFill>
                <a:latin typeface="Arial"/>
              </a:rPr>
              <a:t>Why Invest? | Investment Teaser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15600" y="228600"/>
            <a:ext cx="13716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274320"/>
            <a:ext cx="1444752" cy="548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0" y="6537960"/>
            <a:ext cx="1216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646E"/>
                </a:solidFill>
              </a:defRPr>
            </a:pPr>
            <a:r>
              <a:t>Strictly Private &amp; Confidential – Prepared by Kelp M&amp;A Team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2500" y="1684020"/>
            <a:ext cx="10360152" cy="1005840"/>
          </a:xfrm>
          <a:prstGeom prst="round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1645920"/>
            <a:ext cx="10360152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48640" y="1920240"/>
            <a:ext cx="457200" cy="457200"/>
          </a:xfrm>
          <a:prstGeom prst="ellipse">
            <a:avLst/>
          </a:prstGeom>
          <a:solidFill>
            <a:srgbClr val="FF6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173736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D2D37"/>
                </a:solidFill>
                <a:latin typeface="Arial"/>
              </a:defRPr>
            </a:pPr>
            <a:r>
              <a:t>High Entry Barriers: Critical supplier for National Space Missions (e.g., Chandrayaan-3).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2500" y="2872740"/>
            <a:ext cx="10360152" cy="1005840"/>
          </a:xfrm>
          <a:prstGeom prst="round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14400" y="2834640"/>
            <a:ext cx="10360152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48640" y="3108960"/>
            <a:ext cx="457200" cy="457200"/>
          </a:xfrm>
          <a:prstGeom prst="ellipse">
            <a:avLst/>
          </a:prstGeom>
          <a:solidFill>
            <a:srgbClr val="FF6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292608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D2D37"/>
                </a:solidFill>
                <a:latin typeface="Arial"/>
              </a:defRPr>
            </a:pPr>
            <a:r>
              <a:t>China+1 Beneficiary: Preferred manufacturing partner for Western Defense majors.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2500" y="4061460"/>
            <a:ext cx="10360152" cy="1005840"/>
          </a:xfrm>
          <a:prstGeom prst="round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14400" y="4023360"/>
            <a:ext cx="10360152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48640" y="4297680"/>
            <a:ext cx="457200" cy="457200"/>
          </a:xfrm>
          <a:prstGeom prst="ellipse">
            <a:avLst/>
          </a:prstGeom>
          <a:solidFill>
            <a:srgbClr val="FF6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411480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D2D37"/>
                </a:solidFill>
                <a:latin typeface="Arial"/>
              </a:defRPr>
            </a:pPr>
            <a:r>
              <a:t>Margin Expansion: Shift from 'Build-to-Print' to high-margin 'Design-to-Spec' contracts.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