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Revenue Growth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9229.69</c:v>
                </c:pt>
                <c:pt idx="1">
                  <c:v>10908.2</c:v>
                </c:pt>
                <c:pt idx="2">
                  <c:v>11554.17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10800000">
            <a:off x="7315200" y="-457200"/>
            <a:ext cx="1828800" cy="1828800"/>
          </a:xfrm>
          <a:prstGeom prst="triangle">
            <a:avLst/>
          </a:prstGeom>
          <a:solidFill>
            <a:srgbClr val="FF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280050"/>
                </a:solidFill>
                <a:latin typeface="Arial"/>
              </a:rPr>
              <a:t>KELP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69696"/>
                </a:solidFill>
                <a:latin typeface="Arial"/>
              </a:rP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Project QuantumForge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7315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8C8FF"/>
                </a:solidFill>
                <a:latin typeface="Arial"/>
              </a:rPr>
              <a:t>High-Tech Electronics Manufacturing &amp; Services | Investment Teaser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2560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80050"/>
                </a:solidFill>
                <a:latin typeface="Arial"/>
              </a:rPr>
              <a:t>Business Overview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3C3C3C"/>
                </a:solidFill>
                <a:latin typeface="Arial"/>
              </a:rPr>
              <a:t>Leading Indian diversified electronics company with global operations across North America, Europe, and Asia.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3C3C3C"/>
                </a:solidFill>
                <a:latin typeface="Arial"/>
              </a:rPr>
              <a:t>Specializes in high-technology solutions for defense, aerospace, and space sectors, including mission-critical electronics and passenger information systems.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3C3C3C"/>
                </a:solidFill>
                <a:latin typeface="Arial"/>
              </a:rPr>
              <a:t>Offers customized product design, manufacturing services, and turnkey solutions with flexible engagement models.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45920"/>
            <a:ext cx="256032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280050"/>
                </a:solidFill>
                <a:latin typeface="Arial"/>
              </a:rPr>
              <a:t>Key Offerings / Portfolio</a:t>
            </a:r>
          </a:p>
          <a:p>
            <a:pPr/>
            <a:r>
              <a:rPr sz="1000" b="0">
                <a:solidFill>
                  <a:srgbClr val="3C3C3C"/>
                </a:solidFill>
                <a:latin typeface="Arial"/>
              </a:rPr>
              <a:t>Strategic Electronics (Defense, Space Applications)</a:t>
            </a:r>
          </a:p>
          <a:p>
            <a:pPr/>
            <a:r>
              <a:rPr sz="1000" b="0">
                <a:solidFill>
                  <a:srgbClr val="3C3C3C"/>
                </a:solidFill>
                <a:latin typeface="Arial"/>
              </a:rPr>
              <a:t>Electronics Manufacturing Solutions (LRUs, System Integration, PCBA)</a:t>
            </a:r>
          </a:p>
          <a:p>
            <a:pPr/>
            <a:r>
              <a:rPr sz="1000" b="0">
                <a:solidFill>
                  <a:srgbClr val="3C3C3C"/>
                </a:solidFill>
                <a:latin typeface="Arial"/>
              </a:rPr>
              <a:t>Passenger Information Systems</a:t>
            </a:r>
          </a:p>
          <a:p>
            <a:pPr/>
            <a:r>
              <a:rPr sz="1000" b="0">
                <a:solidFill>
                  <a:srgbClr val="3C3C3C"/>
                </a:solidFill>
                <a:latin typeface="Arial"/>
              </a:rPr>
              <a:t>Engineering &amp; Space Technology Solutions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645920"/>
            <a:ext cx="2743200" cy="20116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IMAGE: Facility/Product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3840480"/>
            <a:ext cx="2743200" cy="20116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IMAGE: R&amp;D/Packaging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10800000">
            <a:off x="7315200" y="-457200"/>
            <a:ext cx="1828800" cy="1828800"/>
          </a:xfrm>
          <a:prstGeom prst="triangle">
            <a:avLst/>
          </a:prstGeom>
          <a:solidFill>
            <a:srgbClr val="FF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280050"/>
                </a:solidFill>
                <a:latin typeface="Arial"/>
              </a:rPr>
              <a:t>KELP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69696"/>
                </a:solidFill>
                <a:latin typeface="Arial"/>
              </a:rP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Financial &amp; Operational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7432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280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80050"/>
                </a:solidFill>
                <a:latin typeface="Arial"/>
              </a:rPr>
              <a:t>Revenue CAGR</a:t>
            </a:r>
          </a:p>
          <a:p>
            <a:pPr algn="ctr"/>
            <a:r>
              <a:rPr sz="2800" b="1">
                <a:solidFill>
                  <a:srgbClr val="FF6450"/>
                </a:solidFill>
                <a:latin typeface="Arial"/>
              </a:rPr>
              <a:t>12%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383280"/>
            <a:ext cx="2743200" cy="1371600"/>
          </a:xfrm>
          <a:prstGeom prst="roundRect">
            <a:avLst/>
          </a:prstGeom>
          <a:solidFill>
            <a:srgbClr val="F5F5F5"/>
          </a:solidFill>
          <a:ln>
            <a:solidFill>
              <a:srgbClr val="280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80050"/>
                </a:solidFill>
                <a:latin typeface="Arial"/>
              </a:rPr>
              <a:t>EBITDA Margin</a:t>
            </a:r>
          </a:p>
          <a:p>
            <a:pPr algn="ctr"/>
            <a:r>
              <a:rPr sz="2800" b="1">
                <a:solidFill>
                  <a:srgbClr val="FF6450"/>
                </a:solidFill>
                <a:latin typeface="Arial"/>
              </a:rPr>
              <a:t>8.4%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0" y="1828800"/>
          <a:ext cx="5029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280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10800000">
            <a:off x="7315200" y="-457200"/>
            <a:ext cx="1828800" cy="1828800"/>
          </a:xfrm>
          <a:prstGeom prst="triangle">
            <a:avLst/>
          </a:prstGeom>
          <a:solidFill>
            <a:srgbClr val="FF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0" y="1828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280050"/>
                </a:solidFill>
                <a:latin typeface="Arial"/>
              </a:rPr>
              <a:t>KELP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58368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969696"/>
                </a:solidFill>
                <a:latin typeface="Arial"/>
              </a:rPr>
              <a:t>Strictly Private &amp; Confidential – Prepared by Kelp M&amp;A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Investment Highlights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solidFill>
            <a:srgbClr val="FAFAFF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400" b="0">
                <a:solidFill>
                  <a:srgbClr val="3C3C3C"/>
                </a:solidFill>
                <a:latin typeface="Arial"/>
              </a:rPr>
              <a:t>Established leader with nearly three decades of experience in critical high-tech electronics sectors.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7315200" cy="1097280"/>
          </a:xfrm>
          <a:prstGeom prst="rect">
            <a:avLst/>
          </a:prstGeom>
          <a:solidFill>
            <a:srgbClr val="FAFAFF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400" b="0">
                <a:solidFill>
                  <a:srgbClr val="3C3C3C"/>
                </a:solidFill>
                <a:latin typeface="Arial"/>
              </a:rPr>
              <a:t>Strategic partnerships with key defense and space organizations (DRDO, ISRO) and global players like Thales and Rafael.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572000"/>
            <a:ext cx="7315200" cy="1097280"/>
          </a:xfrm>
          <a:prstGeom prst="rect">
            <a:avLst/>
          </a:prstGeom>
          <a:solidFill>
            <a:srgbClr val="FAFAFF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400" b="0">
                <a:solidFill>
                  <a:srgbClr val="3C3C3C"/>
                </a:solidFill>
                <a:latin typeface="Arial"/>
              </a:rPr>
              <a:t>Proven capability in delivering complex, mission-critical solutions with a diversified global customer 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