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Growth Trajectory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FY23</c:v>
                </c:pt>
                <c:pt idx="1">
                  <c:v>FY24</c:v>
                </c:pt>
                <c:pt idx="2">
                  <c:v>FY25 (E)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980</c:v>
                </c:pt>
                <c:pt idx="1">
                  <c:v>1150</c:v>
                </c:pt>
                <c:pt idx="2">
                  <c:v>1380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Project QuantumForge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8C8FF"/>
                </a:solidFill>
                <a:latin typeface="Arial"/>
              </a:rPr>
              <a:t>Defense &amp; Space Electronics | Investment Teaser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280050"/>
                </a:solidFill>
              </a:defRPr>
            </a:pPr>
            <a:r>
              <a:t>KELP 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92240"/>
            <a:ext cx="1216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E"/>
                </a:solidFill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501140"/>
            <a:ext cx="5029200" cy="32004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50292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BUSINESS PROFILE</a:t>
            </a:r>
            <a:r>
              <a:rPr sz="1200" b="1">
                <a:solidFill>
                  <a:srgbClr val="280050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1050">
                <a:solidFill>
                  <a:srgbClr val="32323C"/>
                </a:solidFill>
                <a:latin typeface="Arial"/>
              </a:rPr>
              <a:t>• Tier-1 Strategic Partner to ISRO, DRDO, and Global Defense Primes (Thales, Rafael).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32323C"/>
                </a:solidFill>
                <a:latin typeface="Arial"/>
              </a:rPr>
              <a:t>• 3 State-of-the-art Manufacturing Units (AS9100D Certified) in Bangalore &amp; Hyderabad.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32323C"/>
                </a:solidFill>
                <a:latin typeface="Arial"/>
              </a:rPr>
              <a:t>• Diversified Revenue Mix: 45% Exports (USA/EU) | 55% Domestic Strategic Projects.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943600" cy="3200400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OFFERINGS</a:t>
            </a:r>
            <a:r>
              <a:rPr sz="1200" b="1">
                <a:solidFill>
                  <a:srgbClr val="280050"/>
                </a:solidFill>
                <a:latin typeface="Arial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300" y="5067300"/>
            <a:ext cx="2743200" cy="10972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502920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700" y="5092700"/>
            <a:ext cx="261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80050"/>
                </a:solidFill>
                <a:latin typeface="Arial"/>
              </a:rPr>
              <a:t>Missile Control Electronics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29940" y="5067300"/>
            <a:ext cx="2743200" cy="10972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40" y="502920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340" y="5092700"/>
            <a:ext cx="261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80050"/>
                </a:solidFill>
                <a:latin typeface="Arial"/>
              </a:rPr>
              <a:t>Satellite Payloads (Space-Grade)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4580" y="5067300"/>
            <a:ext cx="2743200" cy="10972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502920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9980" y="5092700"/>
            <a:ext cx="261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80050"/>
                </a:solidFill>
                <a:latin typeface="Arial"/>
              </a:rPr>
              <a:t>Radar &amp; EW Systems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9220" y="5067300"/>
            <a:ext cx="2743200" cy="10972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0" y="502920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4620" y="5092700"/>
            <a:ext cx="261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80050"/>
                </a:solidFill>
                <a:latin typeface="Arial"/>
              </a:rPr>
              <a:t>Aero-Structure Assemblies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Financial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8C8FF"/>
                </a:solidFill>
                <a:latin typeface="Arial"/>
              </a:rPr>
              <a:t>Operational Scale | Investment Teaser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280050"/>
                </a:solidFill>
              </a:defRPr>
            </a:pPr>
            <a:r>
              <a:t>KELP 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92240"/>
            <a:ext cx="1216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E"/>
                </a:solidFill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684020"/>
            <a:ext cx="3657600" cy="164592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3657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72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CAGR</a:t>
            </a:r>
            <a:r>
              <a:rPr sz="1200" b="1">
                <a:solidFill>
                  <a:srgbClr val="280050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539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18.5%</a:t>
            </a:r>
            <a:r>
              <a:rPr sz="3200" b="1">
                <a:solidFill>
                  <a:srgbClr val="FF6450"/>
                </a:solidFill>
                <a:latin typeface="Arial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300" y="3512820"/>
            <a:ext cx="3657600" cy="164592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3657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01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EBITDA MARGIN</a:t>
            </a:r>
            <a:r>
              <a:rPr sz="1200" b="1">
                <a:solidFill>
                  <a:srgbClr val="280050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82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22.0%</a:t>
            </a:r>
            <a:r>
              <a:rPr sz="3200" b="1">
                <a:solidFill>
                  <a:srgbClr val="FF6450"/>
                </a:solidFill>
                <a:latin typeface="Arial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0100" y="1684020"/>
            <a:ext cx="7132320" cy="41148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645920"/>
            <a:ext cx="7132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029200" y="2011680"/>
          <a:ext cx="6217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Investment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8C8FF"/>
                </a:solidFill>
                <a:latin typeface="Arial"/>
              </a:rPr>
              <a:t>Why Invest? | Investment Teaser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280050"/>
                </a:solidFill>
              </a:defRPr>
            </a:pPr>
            <a:r>
              <a:t>KELP 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92240"/>
            <a:ext cx="1216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E"/>
                </a:solidFill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500" y="1684020"/>
            <a:ext cx="10332720" cy="10972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10332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rgbClr val="FF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High Entry Barriers: Critical supplier for National Space Missions (e.g., Chandrayaan-3).</a:t>
            </a:r>
            <a:r>
              <a:rPr sz="1050">
                <a:solidFill>
                  <a:srgbClr val="32323C"/>
                </a:solidFill>
                <a:latin typeface="Arial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500" y="3055620"/>
            <a:ext cx="10332720" cy="10972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017520"/>
            <a:ext cx="10332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" y="3337560"/>
            <a:ext cx="457200" cy="457200"/>
          </a:xfrm>
          <a:prstGeom prst="ellipse">
            <a:avLst/>
          </a:prstGeom>
          <a:solidFill>
            <a:srgbClr val="FF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0896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China+1 Beneficiary: Preferred manufacturing partner for Western Defense majors.</a:t>
            </a:r>
            <a:r>
              <a:rPr sz="1050">
                <a:solidFill>
                  <a:srgbClr val="32323C"/>
                </a:solidFill>
                <a:latin typeface="Arial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500" y="4427220"/>
            <a:ext cx="10332720" cy="10972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389120"/>
            <a:ext cx="10332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" y="4709160"/>
            <a:ext cx="457200" cy="457200"/>
          </a:xfrm>
          <a:prstGeom prst="ellipse">
            <a:avLst/>
          </a:prstGeom>
          <a:solidFill>
            <a:srgbClr val="FF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8056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Margin Expansion: Shift from 'Build-to-Print' to high-margin 'Design-to-Spec' contracts.</a:t>
            </a:r>
            <a:r>
              <a:rPr sz="1050">
                <a:solidFill>
                  <a:srgbClr val="32323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